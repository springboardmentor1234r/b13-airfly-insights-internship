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ocomat Pro" charset="1" panose="00000500000000000000"/>
      <p:regular r:id="rId20"/>
    </p:embeddedFont>
    <p:embeddedFont>
      <p:font typeface="Alice Bold" charset="1" panose="00000500000000000000"/>
      <p:regular r:id="rId21"/>
    </p:embeddedFont>
    <p:embeddedFont>
      <p:font typeface="Monterchi Sans Bold" charset="1" panose="0200050306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88376" y="5143500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63209" y="2734470"/>
            <a:ext cx="13626951" cy="168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2"/>
              </a:lnSpc>
            </a:pPr>
            <a:r>
              <a:rPr lang="en-US" sz="6770">
                <a:solidFill>
                  <a:srgbClr val="6D3A2C"/>
                </a:solidFill>
                <a:latin typeface="Cocomat Pro"/>
                <a:ea typeface="Cocomat Pro"/>
                <a:cs typeface="Cocomat Pro"/>
                <a:sym typeface="Cocomat Pro"/>
              </a:rPr>
              <a:t>AIRFLY INSIGHTS: AIRLINE DATA VISUALIZATION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306" y="5583006"/>
            <a:ext cx="12583884" cy="277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3860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INTERN : DADI NAYANA SRI</a:t>
            </a:r>
          </a:p>
          <a:p>
            <a:pPr algn="l">
              <a:lnSpc>
                <a:spcPts val="3667"/>
              </a:lnSpc>
            </a:pPr>
            <a:r>
              <a:rPr lang="en-US" sz="3860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MENTOR : PRIYA</a:t>
            </a:r>
          </a:p>
          <a:p>
            <a:pPr algn="l">
              <a:lnSpc>
                <a:spcPts val="3667"/>
              </a:lnSpc>
            </a:pPr>
            <a:r>
              <a:rPr lang="en-US" sz="3860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PROJECT : FLIGHT DELAY AND CANCELLATION ANALYSIS</a:t>
            </a:r>
          </a:p>
          <a:p>
            <a:pPr algn="l">
              <a:lnSpc>
                <a:spcPts val="3667"/>
              </a:lnSpc>
            </a:pPr>
            <a:r>
              <a:rPr lang="en-US" sz="3860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DATE : 06-04-2027</a:t>
            </a:r>
          </a:p>
          <a:p>
            <a:pPr algn="ctr">
              <a:lnSpc>
                <a:spcPts val="366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60914" y="267820"/>
            <a:ext cx="13231541" cy="756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2"/>
              </a:lnSpc>
            </a:pPr>
            <a:r>
              <a:rPr lang="en-US" sz="5813">
                <a:solidFill>
                  <a:srgbClr val="6D3A2C"/>
                </a:solidFill>
                <a:latin typeface="Cocomat Pro"/>
                <a:ea typeface="Cocomat Pro"/>
                <a:cs typeface="Cocomat Pro"/>
                <a:sym typeface="Cocomat Pro"/>
              </a:rPr>
              <a:t>Infosys Springboard virtual internship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2950" y="9163050"/>
            <a:ext cx="2236934" cy="80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0"/>
              </a:lnSpc>
              <a:spcBef>
                <a:spcPct val="0"/>
              </a:spcBef>
            </a:pPr>
            <a:r>
              <a:rPr lang="en-US" sz="4636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Batch-13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62782" y="5378957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41633" y="400351"/>
            <a:ext cx="10246367" cy="266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5326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Airlines face frequent delays and cancellations, impacting customer satisfaction and operational efficiency.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30053" y="3900999"/>
            <a:ext cx="11457947" cy="329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1571" indent="-530786" lvl="1">
              <a:lnSpc>
                <a:spcPts val="6539"/>
              </a:lnSpc>
              <a:buFont typeface="Arial"/>
              <a:buChar char="•"/>
            </a:pPr>
            <a:r>
              <a:rPr lang="en-US" b="true" sz="4916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Analyze flight data to identify delay patterns</a:t>
            </a:r>
          </a:p>
          <a:p>
            <a:pPr algn="l" marL="1061571" indent="-530786" lvl="1">
              <a:lnSpc>
                <a:spcPts val="6539"/>
              </a:lnSpc>
              <a:buFont typeface="Arial"/>
              <a:buChar char="•"/>
            </a:pPr>
            <a:r>
              <a:rPr lang="en-US" b="true" sz="4916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Understand cancellation reasons</a:t>
            </a:r>
          </a:p>
          <a:p>
            <a:pPr algn="l" marL="1061571" indent="-530786" lvl="1">
              <a:lnSpc>
                <a:spcPts val="6539"/>
              </a:lnSpc>
              <a:buFont typeface="Arial"/>
              <a:buChar char="•"/>
            </a:pPr>
            <a:r>
              <a:rPr lang="en-US" b="true" sz="4916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Generat</a:t>
            </a:r>
            <a:r>
              <a:rPr lang="en-US" b="true" sz="4916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e actionable insights</a:t>
            </a:r>
          </a:p>
          <a:p>
            <a:pPr algn="l">
              <a:lnSpc>
                <a:spcPts val="65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67213" y="7135251"/>
            <a:ext cx="8923494" cy="373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1347" indent="-480673" lvl="1">
              <a:lnSpc>
                <a:spcPts val="5922"/>
              </a:lnSpc>
              <a:buFont typeface="Arial"/>
              <a:buChar char="•"/>
            </a:pPr>
            <a:r>
              <a:rPr lang="en-US" b="true" sz="4452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Analyze flight data to identify delay patterns</a:t>
            </a:r>
          </a:p>
          <a:p>
            <a:pPr algn="l" marL="961347" indent="-480673" lvl="1">
              <a:lnSpc>
                <a:spcPts val="5922"/>
              </a:lnSpc>
              <a:buFont typeface="Arial"/>
              <a:buChar char="•"/>
            </a:pPr>
            <a:r>
              <a:rPr lang="en-US" b="true" sz="4452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Understand cancell</a:t>
            </a:r>
            <a:r>
              <a:rPr lang="en-US" b="true" sz="4452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ation reasons</a:t>
            </a:r>
          </a:p>
          <a:p>
            <a:pPr algn="l" marL="961347" indent="-480673" lvl="1">
              <a:lnSpc>
                <a:spcPts val="5922"/>
              </a:lnSpc>
              <a:buFont typeface="Arial"/>
              <a:buChar char="•"/>
            </a:pPr>
            <a:r>
              <a:rPr lang="en-US" b="true" sz="4452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Generate actionable insights</a:t>
            </a:r>
          </a:p>
          <a:p>
            <a:pPr algn="l">
              <a:lnSpc>
                <a:spcPts val="592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5383" y="381301"/>
            <a:ext cx="7581221" cy="87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</a:pPr>
            <a:r>
              <a:rPr lang="en-US" sz="6681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Problem Statement: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383" y="4101024"/>
            <a:ext cx="7581221" cy="87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7"/>
              </a:lnSpc>
            </a:pPr>
            <a:r>
              <a:rPr lang="en-US" sz="6681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6666" y="7325751"/>
            <a:ext cx="6807889" cy="77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6000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322" y="0"/>
            <a:ext cx="2004757" cy="2702490"/>
          </a:xfrm>
          <a:custGeom>
            <a:avLst/>
            <a:gdLst/>
            <a:ahLst/>
            <a:cxnLst/>
            <a:rect r="r" b="b" t="t" l="l"/>
            <a:pathLst>
              <a:path h="2702490" w="2004757">
                <a:moveTo>
                  <a:pt x="0" y="0"/>
                </a:moveTo>
                <a:lnTo>
                  <a:pt x="2004756" y="0"/>
                </a:lnTo>
                <a:lnTo>
                  <a:pt x="2004756" y="2702490"/>
                </a:lnTo>
                <a:lnTo>
                  <a:pt x="0" y="2702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63050" y="2042012"/>
            <a:ext cx="13343357" cy="6949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8549" indent="-439275" lvl="1">
              <a:lnSpc>
                <a:spcPts val="5045"/>
              </a:lnSpc>
              <a:buFont typeface="Arial"/>
              <a:buChar char="•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Source: Kaggle Airline Dataset</a:t>
            </a:r>
          </a:p>
          <a:p>
            <a:pPr algn="just" marL="878549" indent="-439275" lvl="1">
              <a:lnSpc>
                <a:spcPts val="5045"/>
              </a:lnSpc>
              <a:buFont typeface="Arial"/>
              <a:buChar char="•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Size: ~3 Million records, 36 features</a:t>
            </a:r>
          </a:p>
          <a:p>
            <a:pPr algn="just" marL="1757098" indent="-585699" lvl="2">
              <a:lnSpc>
                <a:spcPts val="5045"/>
              </a:lnSpc>
              <a:buFont typeface="Arial"/>
              <a:buChar char="⚬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Features:Airline, Route (Origin–Destination)</a:t>
            </a:r>
          </a:p>
          <a:p>
            <a:pPr algn="just" marL="1757098" indent="-585699" lvl="2">
              <a:lnSpc>
                <a:spcPts val="5045"/>
              </a:lnSpc>
              <a:buFont typeface="Arial"/>
              <a:buChar char="⚬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Departure &amp; Arrival Time</a:t>
            </a:r>
          </a:p>
          <a:p>
            <a:pPr algn="just" marL="1757098" indent="-585699" lvl="2">
              <a:lnSpc>
                <a:spcPts val="5045"/>
              </a:lnSpc>
              <a:buFont typeface="Arial"/>
              <a:buChar char="⚬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Delay Metrics (Carrier, Weather, NAS)</a:t>
            </a:r>
          </a:p>
          <a:p>
            <a:pPr algn="just" marL="1757098" indent="-585699" lvl="2">
              <a:lnSpc>
                <a:spcPts val="5045"/>
              </a:lnSpc>
              <a:buFont typeface="Arial"/>
              <a:buChar char="⚬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Cancellation Details</a:t>
            </a:r>
          </a:p>
          <a:p>
            <a:pPr algn="just">
              <a:lnSpc>
                <a:spcPts val="5045"/>
              </a:lnSpc>
            </a:pPr>
            <a:r>
              <a:rPr lang="en-US" sz="4069" b="true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Complexity:</a:t>
            </a:r>
          </a:p>
          <a:p>
            <a:pPr algn="just" marL="878549" indent="-439275" lvl="1">
              <a:lnSpc>
                <a:spcPts val="5045"/>
              </a:lnSpc>
              <a:buFont typeface="Arial"/>
              <a:buChar char="•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Large-scale real-world dataset</a:t>
            </a:r>
          </a:p>
          <a:p>
            <a:pPr algn="just" marL="878549" indent="-439275" lvl="1">
              <a:lnSpc>
                <a:spcPts val="5045"/>
              </a:lnSpc>
              <a:buFont typeface="Arial"/>
              <a:buChar char="•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Missing values and inconsistent formats</a:t>
            </a:r>
          </a:p>
          <a:p>
            <a:pPr algn="just" marL="878549" indent="-439275" lvl="1">
              <a:lnSpc>
                <a:spcPts val="5045"/>
              </a:lnSpc>
              <a:buFont typeface="Arial"/>
              <a:buChar char="•"/>
            </a:pPr>
            <a:r>
              <a:rPr lang="en-US" b="true" sz="4069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Multiple delay factors</a:t>
            </a:r>
          </a:p>
          <a:p>
            <a:pPr algn="just">
              <a:lnSpc>
                <a:spcPts val="504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64326" y="582364"/>
            <a:ext cx="8990695" cy="108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7"/>
              </a:lnSpc>
            </a:pPr>
            <a:r>
              <a:rPr lang="en-US" sz="8375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965530"/>
            <a:ext cx="16714101" cy="233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7"/>
              </a:lnSpc>
            </a:pPr>
            <a:r>
              <a:rPr lang="en-US" sz="4982" b="true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Data Collection → Data Cleaning → Feature Engineering → EDA →                       Visualization → Insights</a:t>
            </a:r>
          </a:p>
          <a:p>
            <a:pPr algn="ctr">
              <a:lnSpc>
                <a:spcPts val="617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713153" y="878829"/>
            <a:ext cx="11354667" cy="88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763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Project Workflow / Pipeline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9912" y="515742"/>
            <a:ext cx="14572596" cy="223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1"/>
              </a:lnSpc>
            </a:pPr>
            <a:r>
              <a:rPr lang="en-US" sz="9022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Data Preprocessing (Milestone 1)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72475" y="3644442"/>
            <a:ext cx="13620317" cy="664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102" indent="-485551" lvl="1">
              <a:lnSpc>
                <a:spcPts val="4767"/>
              </a:lnSpc>
              <a:buFont typeface="Arial"/>
              <a:buChar char="•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Handled missing values in delay and cancellation columns</a:t>
            </a:r>
          </a:p>
          <a:p>
            <a:pPr algn="just" marL="971102" indent="-485551" lvl="1">
              <a:lnSpc>
                <a:spcPts val="4767"/>
              </a:lnSpc>
              <a:buFont typeface="Arial"/>
              <a:buChar char="•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Converted date columns into proper datetime format</a:t>
            </a:r>
          </a:p>
          <a:p>
            <a:pPr algn="just" marL="971102" indent="-485551" lvl="1">
              <a:lnSpc>
                <a:spcPts val="4767"/>
              </a:lnSpc>
              <a:buFont typeface="Arial"/>
              <a:buChar char="•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Removed inconsistencies and optimized data types</a:t>
            </a:r>
          </a:p>
          <a:p>
            <a:pPr algn="just" marL="971102" indent="-485551" lvl="1">
              <a:lnSpc>
                <a:spcPts val="4767"/>
              </a:lnSpc>
              <a:buFont typeface="Arial"/>
              <a:buChar char="•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Created new features:</a:t>
            </a:r>
          </a:p>
          <a:p>
            <a:pPr algn="just" marL="1942204" indent="-647401" lvl="2">
              <a:lnSpc>
                <a:spcPts val="4767"/>
              </a:lnSpc>
              <a:buFont typeface="Arial"/>
              <a:buChar char="⚬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Month</a:t>
            </a:r>
          </a:p>
          <a:p>
            <a:pPr algn="just" marL="1942204" indent="-647401" lvl="2">
              <a:lnSpc>
                <a:spcPts val="4767"/>
              </a:lnSpc>
              <a:buFont typeface="Arial"/>
              <a:buChar char="⚬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Day of Week</a:t>
            </a:r>
          </a:p>
          <a:p>
            <a:pPr algn="just" marL="1942204" indent="-647401" lvl="2">
              <a:lnSpc>
                <a:spcPts val="4767"/>
              </a:lnSpc>
              <a:buFont typeface="Arial"/>
              <a:buChar char="⚬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Hour of Departure</a:t>
            </a:r>
          </a:p>
          <a:p>
            <a:pPr algn="just" marL="1942204" indent="-647401" lvl="2">
              <a:lnSpc>
                <a:spcPts val="4767"/>
              </a:lnSpc>
              <a:buFont typeface="Arial"/>
              <a:buChar char="⚬"/>
            </a:pPr>
            <a:r>
              <a:rPr lang="en-US" b="true" sz="4497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Route (Origin-Destination)</a:t>
            </a:r>
          </a:p>
          <a:p>
            <a:pPr algn="just">
              <a:lnSpc>
                <a:spcPts val="4767"/>
              </a:lnSpc>
            </a:pPr>
            <a:r>
              <a:rPr lang="en-US" sz="4497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Why Preprocessing?</a:t>
            </a:r>
          </a:p>
          <a:p>
            <a:pPr algn="just">
              <a:lnSpc>
                <a:spcPts val="4767"/>
              </a:lnSpc>
            </a:pPr>
            <a:r>
              <a:rPr lang="en-US" sz="4497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 To ensure clean, consistent, and analysis-ready data</a:t>
            </a:r>
          </a:p>
          <a:p>
            <a:pPr algn="just">
              <a:lnSpc>
                <a:spcPts val="476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4915" y="658951"/>
            <a:ext cx="13438170" cy="1796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9"/>
              </a:lnSpc>
            </a:pPr>
            <a:r>
              <a:rPr lang="en-US" sz="7189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Exploratory Data Analysis (EDA) (Milestone 2)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24915" y="3354347"/>
            <a:ext cx="13769287" cy="619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4233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Observations:</a:t>
            </a:r>
          </a:p>
          <a:p>
            <a:pPr algn="l">
              <a:lnSpc>
                <a:spcPts val="4487"/>
              </a:lnSpc>
            </a:pPr>
          </a:p>
          <a:p>
            <a:pPr algn="l" marL="914059" indent="-457029" lvl="1">
              <a:lnSpc>
                <a:spcPts val="4487"/>
              </a:lnSpc>
              <a:buFont typeface="Arial"/>
              <a:buChar char="•"/>
            </a:pPr>
            <a:r>
              <a:rPr lang="en-US" b="true" sz="4233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Uneven distribution of flights across months</a:t>
            </a:r>
          </a:p>
          <a:p>
            <a:pPr algn="l" marL="914059" indent="-457029" lvl="1">
              <a:lnSpc>
                <a:spcPts val="4487"/>
              </a:lnSpc>
              <a:buFont typeface="Arial"/>
              <a:buChar char="•"/>
            </a:pPr>
            <a:r>
              <a:rPr lang="en-US" b="true" sz="4233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Certain airlines dominate traffic</a:t>
            </a:r>
          </a:p>
          <a:p>
            <a:pPr algn="l" marL="914059" indent="-457029" lvl="1">
              <a:lnSpc>
                <a:spcPts val="4487"/>
              </a:lnSpc>
              <a:buFont typeface="Arial"/>
              <a:buChar char="•"/>
            </a:pPr>
            <a:r>
              <a:rPr lang="en-US" b="true" sz="4233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Major airports handle high traffic</a:t>
            </a:r>
          </a:p>
          <a:p>
            <a:pPr algn="ctr">
              <a:lnSpc>
                <a:spcPts val="4487"/>
              </a:lnSpc>
            </a:pPr>
          </a:p>
          <a:p>
            <a:pPr algn="l">
              <a:lnSpc>
                <a:spcPts val="4487"/>
              </a:lnSpc>
            </a:pPr>
            <a:r>
              <a:rPr lang="en-US" sz="4233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Visuals to Show:</a:t>
            </a:r>
          </a:p>
          <a:p>
            <a:pPr algn="l" marL="914059" indent="-457029" lvl="1">
              <a:lnSpc>
                <a:spcPts val="4487"/>
              </a:lnSpc>
              <a:buFont typeface="Arial"/>
              <a:buChar char="•"/>
            </a:pPr>
            <a:r>
              <a:rPr lang="en-US" b="true" sz="4233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Flights per Month</a:t>
            </a:r>
          </a:p>
          <a:p>
            <a:pPr algn="l" marL="914059" indent="-457029" lvl="1">
              <a:lnSpc>
                <a:spcPts val="4487"/>
              </a:lnSpc>
              <a:buFont typeface="Arial"/>
              <a:buChar char="•"/>
            </a:pPr>
            <a:r>
              <a:rPr lang="en-US" b="true" sz="4233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Top Airlines</a:t>
            </a:r>
          </a:p>
          <a:p>
            <a:pPr algn="l" marL="914059" indent="-457029" lvl="1">
              <a:lnSpc>
                <a:spcPts val="4487"/>
              </a:lnSpc>
              <a:buFont typeface="Arial"/>
              <a:buChar char="•"/>
            </a:pPr>
            <a:r>
              <a:rPr lang="en-US" b="true" sz="4233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Flight Distribution by Hour</a:t>
            </a:r>
          </a:p>
          <a:p>
            <a:pPr algn="ctr">
              <a:lnSpc>
                <a:spcPts val="448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8920" y="161925"/>
            <a:ext cx="13386412" cy="180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0"/>
              </a:lnSpc>
            </a:pPr>
            <a:r>
              <a:rPr lang="en-US" sz="7211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Route &amp; Airport Analysis (Milestone 3)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035" y="1624416"/>
            <a:ext cx="10264821" cy="9766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Identified top 10 busiest routes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Highlighted most delayed routes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Found busiest airports</a:t>
            </a:r>
          </a:p>
          <a:p>
            <a:pPr algn="just">
              <a:lnSpc>
                <a:spcPts val="4938"/>
              </a:lnSpc>
            </a:pPr>
            <a:r>
              <a:rPr lang="en-US" sz="3982" b="true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Insight: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High-traffic routes experience frequent congestion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Certain airports consistently face delays</a:t>
            </a:r>
          </a:p>
          <a:p>
            <a:pPr algn="just">
              <a:lnSpc>
                <a:spcPts val="4938"/>
              </a:lnSpc>
            </a:pPr>
            <a:r>
              <a:rPr lang="en-US" sz="3982" b="true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Cancellation Analysis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Analyzed cancellation codes:</a:t>
            </a:r>
          </a:p>
          <a:p>
            <a:pPr algn="just" marL="1719744" indent="-573248" lvl="2">
              <a:lnSpc>
                <a:spcPts val="4938"/>
              </a:lnSpc>
              <a:buFont typeface="Arial"/>
              <a:buChar char="⚬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Weather (highest)</a:t>
            </a:r>
          </a:p>
          <a:p>
            <a:pPr algn="just" marL="1719744" indent="-573248" lvl="2">
              <a:lnSpc>
                <a:spcPts val="4938"/>
              </a:lnSpc>
              <a:buFont typeface="Arial"/>
              <a:buChar char="⚬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Carrier issues</a:t>
            </a:r>
          </a:p>
          <a:p>
            <a:pPr algn="just" marL="1719744" indent="-573248" lvl="2">
              <a:lnSpc>
                <a:spcPts val="4938"/>
              </a:lnSpc>
              <a:buFont typeface="Arial"/>
              <a:buChar char="⚬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Security (lowest)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Observed seasonal patterns</a:t>
            </a:r>
          </a:p>
          <a:p>
            <a:pPr algn="just">
              <a:lnSpc>
                <a:spcPts val="4938"/>
              </a:lnSpc>
            </a:pPr>
            <a:r>
              <a:rPr lang="en-US" sz="3982" b="true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Insight:</a:t>
            </a:r>
          </a:p>
          <a:p>
            <a:pPr algn="just" marL="859872" indent="-429936" lvl="1">
              <a:lnSpc>
                <a:spcPts val="4938"/>
              </a:lnSpc>
              <a:buFont typeface="Arial"/>
              <a:buChar char="•"/>
            </a:pPr>
            <a:r>
              <a:rPr lang="en-US" b="true" sz="3982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Weather is the primary cause of cancellations</a:t>
            </a:r>
          </a:p>
          <a:p>
            <a:pPr algn="just">
              <a:lnSpc>
                <a:spcPts val="4938"/>
              </a:lnSpc>
            </a:pPr>
          </a:p>
          <a:p>
            <a:pPr algn="just">
              <a:lnSpc>
                <a:spcPts val="38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3647" y="2674082"/>
            <a:ext cx="16468584" cy="792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8403" indent="-394201" lvl="1">
              <a:lnSpc>
                <a:spcPts val="4528"/>
              </a:lnSpc>
              <a:buFont typeface="Arial"/>
              <a:buChar char="•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Combined all visualizations into a structured storytelling flow</a:t>
            </a:r>
          </a:p>
          <a:p>
            <a:pPr algn="just" marL="788403" indent="-394201" lvl="1">
              <a:lnSpc>
                <a:spcPts val="4528"/>
              </a:lnSpc>
              <a:buFont typeface="Arial"/>
              <a:buChar char="•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Created clear and professional charts with: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Proper titles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Axis labels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Legends</a:t>
            </a:r>
          </a:p>
          <a:p>
            <a:pPr algn="just" marL="788403" indent="-394201" lvl="1">
              <a:lnSpc>
                <a:spcPts val="4528"/>
              </a:lnSpc>
              <a:buFont typeface="Arial"/>
              <a:buChar char="•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Organized analysis into sections: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Delay Analysis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Route &amp; Airport Analysis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Cancellation Trends</a:t>
            </a:r>
          </a:p>
          <a:p>
            <a:pPr algn="just" marL="1576806" indent="-525602" lvl="2">
              <a:lnSpc>
                <a:spcPts val="4528"/>
              </a:lnSpc>
              <a:buFont typeface="Arial"/>
              <a:buChar char="⚬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Seasonal Patterns</a:t>
            </a:r>
          </a:p>
          <a:p>
            <a:pPr algn="just">
              <a:lnSpc>
                <a:spcPts val="4528"/>
              </a:lnSpc>
            </a:pPr>
            <a:r>
              <a:rPr lang="en-US" sz="3651" b="true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Insight:</a:t>
            </a:r>
          </a:p>
          <a:p>
            <a:pPr algn="just" marL="788403" indent="-394201" lvl="1">
              <a:lnSpc>
                <a:spcPts val="4528"/>
              </a:lnSpc>
              <a:buFont typeface="Arial"/>
              <a:buChar char="•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 well-structured visual report makes complex data easy to understand and actionable</a:t>
            </a:r>
          </a:p>
          <a:p>
            <a:pPr algn="just" marL="788403" indent="-394201" lvl="1">
              <a:lnSpc>
                <a:spcPts val="4528"/>
              </a:lnSpc>
              <a:buFont typeface="Arial"/>
              <a:buChar char="•"/>
            </a:pPr>
            <a:r>
              <a:rPr lang="en-US" b="true" sz="3651">
                <a:solidFill>
                  <a:srgbClr val="5E4840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Clear visualization improves decision-making for stakeholders</a:t>
            </a:r>
          </a:p>
          <a:p>
            <a:pPr algn="just">
              <a:lnSpc>
                <a:spcPts val="452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79876" y="340995"/>
            <a:ext cx="13451980" cy="196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7883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Visual Report &amp; Dashboard (Milestone 4)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1286" y="1290986"/>
            <a:ext cx="8632212" cy="7967314"/>
          </a:xfrm>
          <a:custGeom>
            <a:avLst/>
            <a:gdLst/>
            <a:ahLst/>
            <a:cxnLst/>
            <a:rect r="r" b="b" t="t" l="l"/>
            <a:pathLst>
              <a:path h="7967314" w="8632212">
                <a:moveTo>
                  <a:pt x="0" y="0"/>
                </a:moveTo>
                <a:lnTo>
                  <a:pt x="8632212" y="0"/>
                </a:lnTo>
                <a:lnTo>
                  <a:pt x="8632212" y="7967314"/>
                </a:lnTo>
                <a:lnTo>
                  <a:pt x="0" y="7967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6865" y="1290986"/>
            <a:ext cx="9609806" cy="7967314"/>
          </a:xfrm>
          <a:custGeom>
            <a:avLst/>
            <a:gdLst/>
            <a:ahLst/>
            <a:cxnLst/>
            <a:rect r="r" b="b" t="t" l="l"/>
            <a:pathLst>
              <a:path h="7967314" w="9609806">
                <a:moveTo>
                  <a:pt x="0" y="0"/>
                </a:moveTo>
                <a:lnTo>
                  <a:pt x="9609806" y="0"/>
                </a:lnTo>
                <a:lnTo>
                  <a:pt x="9609806" y="7967314"/>
                </a:lnTo>
                <a:lnTo>
                  <a:pt x="0" y="7967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5844" y="1623970"/>
            <a:ext cx="8862291" cy="7039060"/>
          </a:xfrm>
          <a:custGeom>
            <a:avLst/>
            <a:gdLst/>
            <a:ahLst/>
            <a:cxnLst/>
            <a:rect r="r" b="b" t="t" l="l"/>
            <a:pathLst>
              <a:path h="7039060" w="8862291">
                <a:moveTo>
                  <a:pt x="0" y="0"/>
                </a:moveTo>
                <a:lnTo>
                  <a:pt x="8862291" y="0"/>
                </a:lnTo>
                <a:lnTo>
                  <a:pt x="8862291" y="7039060"/>
                </a:lnTo>
                <a:lnTo>
                  <a:pt x="0" y="7039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93415" y="1691352"/>
            <a:ext cx="8095067" cy="6904295"/>
          </a:xfrm>
          <a:custGeom>
            <a:avLst/>
            <a:gdLst/>
            <a:ahLst/>
            <a:cxnLst/>
            <a:rect r="r" b="b" t="t" l="l"/>
            <a:pathLst>
              <a:path h="6904295" w="8095067">
                <a:moveTo>
                  <a:pt x="0" y="0"/>
                </a:moveTo>
                <a:lnTo>
                  <a:pt x="8095067" y="0"/>
                </a:lnTo>
                <a:lnTo>
                  <a:pt x="8095067" y="6904296"/>
                </a:lnTo>
                <a:lnTo>
                  <a:pt x="0" y="6904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81260" y="1028700"/>
            <a:ext cx="10603690" cy="8098568"/>
          </a:xfrm>
          <a:custGeom>
            <a:avLst/>
            <a:gdLst/>
            <a:ahLst/>
            <a:cxnLst/>
            <a:rect r="r" b="b" t="t" l="l"/>
            <a:pathLst>
              <a:path h="8098568" w="10603690">
                <a:moveTo>
                  <a:pt x="0" y="0"/>
                </a:moveTo>
                <a:lnTo>
                  <a:pt x="10603689" y="0"/>
                </a:lnTo>
                <a:lnTo>
                  <a:pt x="10603689" y="8098568"/>
                </a:lnTo>
                <a:lnTo>
                  <a:pt x="0" y="8098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66296" y="1228725"/>
            <a:ext cx="14586638" cy="11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0"/>
              </a:lnSpc>
            </a:pPr>
            <a:r>
              <a:rPr lang="en-US" sz="8852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Final Insights &amp; Storytelling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13944"/>
            <a:ext cx="15540823" cy="655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58331" indent="-479166" lvl="1">
              <a:lnSpc>
                <a:spcPts val="4705"/>
              </a:lnSpc>
              <a:buFont typeface="Arial"/>
              <a:buChar char="•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Integrated insights from all milestones into a single narrative</a:t>
            </a:r>
          </a:p>
          <a:p>
            <a:pPr algn="ctr" marL="958331" indent="-479166" lvl="1">
              <a:lnSpc>
                <a:spcPts val="4705"/>
              </a:lnSpc>
              <a:buFont typeface="Arial"/>
              <a:buChar char="•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Connected patterns across:</a:t>
            </a:r>
          </a:p>
          <a:p>
            <a:pPr algn="ctr" marL="1916663" indent="-638888" lvl="2">
              <a:lnSpc>
                <a:spcPts val="4705"/>
              </a:lnSpc>
              <a:buFont typeface="Arial"/>
              <a:buChar char="⚬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Time (hour, month, season)</a:t>
            </a:r>
          </a:p>
          <a:p>
            <a:pPr algn="ctr" marL="1916663" indent="-638888" lvl="2">
              <a:lnSpc>
                <a:spcPts val="4705"/>
              </a:lnSpc>
              <a:buFont typeface="Arial"/>
              <a:buChar char="⚬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Airlines</a:t>
            </a:r>
          </a:p>
          <a:p>
            <a:pPr algn="ctr" marL="1916663" indent="-638888" lvl="2">
              <a:lnSpc>
                <a:spcPts val="4705"/>
              </a:lnSpc>
              <a:buFont typeface="Arial"/>
              <a:buChar char="⚬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Routes and airports</a:t>
            </a:r>
          </a:p>
          <a:p>
            <a:pPr algn="ctr" marL="1916663" indent="-638888" lvl="2">
              <a:lnSpc>
                <a:spcPts val="4705"/>
              </a:lnSpc>
              <a:buFont typeface="Arial"/>
              <a:buChar char="⚬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Delay and cancellation factors</a:t>
            </a:r>
          </a:p>
          <a:p>
            <a:pPr algn="ctr">
              <a:lnSpc>
                <a:spcPts val="4705"/>
              </a:lnSpc>
            </a:pPr>
            <a:r>
              <a:rPr lang="en-US" sz="4438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Insight:</a:t>
            </a:r>
          </a:p>
          <a:p>
            <a:pPr algn="ctr" marL="958331" indent="-479166" lvl="1">
              <a:lnSpc>
                <a:spcPts val="4705"/>
              </a:lnSpc>
              <a:buFont typeface="Arial"/>
              <a:buChar char="•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Combining multiple analyses reveals hidden patterns and deeper insights</a:t>
            </a:r>
          </a:p>
          <a:p>
            <a:pPr algn="ctr" marL="958331" indent="-479166" lvl="1">
              <a:lnSpc>
                <a:spcPts val="4705"/>
              </a:lnSpc>
              <a:buFont typeface="Arial"/>
              <a:buChar char="•"/>
            </a:pPr>
            <a:r>
              <a:rPr lang="en-US" b="true" sz="4438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Data storytelling helps transform raw data into business value</a:t>
            </a:r>
          </a:p>
          <a:p>
            <a:pPr algn="ctr">
              <a:lnSpc>
                <a:spcPts val="470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526038"/>
            <a:ext cx="9457706" cy="122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7"/>
              </a:lnSpc>
            </a:pPr>
            <a:r>
              <a:rPr lang="en-US" sz="9492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Overall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17104" y="2417124"/>
            <a:ext cx="12752297" cy="623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69801" indent="-484901" lvl="1">
              <a:lnSpc>
                <a:spcPts val="5569"/>
              </a:lnSpc>
              <a:buFont typeface="Arial"/>
              <a:buChar char="•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Transformed raw airline data into meaningful insights</a:t>
            </a:r>
          </a:p>
          <a:p>
            <a:pPr algn="just" marL="969801" indent="-484901" lvl="1">
              <a:lnSpc>
                <a:spcPts val="5569"/>
              </a:lnSpc>
              <a:buFont typeface="Arial"/>
              <a:buChar char="•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Identified key factors affecting delays and cancellations</a:t>
            </a:r>
          </a:p>
          <a:p>
            <a:pPr algn="just" marL="969801" indent="-484901" lvl="1">
              <a:lnSpc>
                <a:spcPts val="5569"/>
              </a:lnSpc>
              <a:buFont typeface="Arial"/>
              <a:buChar char="•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Built a complete end-to-end data analysis workflow</a:t>
            </a:r>
          </a:p>
          <a:p>
            <a:pPr algn="just">
              <a:lnSpc>
                <a:spcPts val="5569"/>
              </a:lnSpc>
            </a:pPr>
            <a:r>
              <a:rPr lang="en-US" sz="4491" b="true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Key Insight:</a:t>
            </a:r>
          </a:p>
          <a:p>
            <a:pPr algn="just" marL="969801" indent="-484901" lvl="1">
              <a:lnSpc>
                <a:spcPts val="5569"/>
              </a:lnSpc>
              <a:buFont typeface="Arial"/>
              <a:buChar char="•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Data-driven insights can help airlines:</a:t>
            </a:r>
          </a:p>
          <a:p>
            <a:pPr algn="just" marL="1939603" indent="-646534" lvl="2">
              <a:lnSpc>
                <a:spcPts val="5569"/>
              </a:lnSpc>
              <a:buFont typeface="Arial"/>
              <a:buChar char="⚬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Optimize operations</a:t>
            </a:r>
          </a:p>
          <a:p>
            <a:pPr algn="just" marL="1939603" indent="-646534" lvl="2">
              <a:lnSpc>
                <a:spcPts val="5569"/>
              </a:lnSpc>
              <a:buFont typeface="Arial"/>
              <a:buChar char="⚬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Reduce delays</a:t>
            </a:r>
          </a:p>
          <a:p>
            <a:pPr algn="just" marL="1939603" indent="-646534" lvl="2">
              <a:lnSpc>
                <a:spcPts val="5569"/>
              </a:lnSpc>
              <a:buFont typeface="Arial"/>
              <a:buChar char="⚬"/>
            </a:pPr>
            <a:r>
              <a:rPr lang="en-US" b="true" sz="4491">
                <a:solidFill>
                  <a:srgbClr val="4A2D0A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Improve passenger satisfaction</a:t>
            </a:r>
          </a:p>
          <a:p>
            <a:pPr algn="just">
              <a:lnSpc>
                <a:spcPts val="556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201" r="0" b="-81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19135" y="3384561"/>
            <a:ext cx="9125565" cy="8229600"/>
          </a:xfrm>
          <a:custGeom>
            <a:avLst/>
            <a:gdLst/>
            <a:ahLst/>
            <a:cxnLst/>
            <a:rect r="r" b="b" t="t" l="l"/>
            <a:pathLst>
              <a:path h="8229600" w="9125565">
                <a:moveTo>
                  <a:pt x="0" y="0"/>
                </a:moveTo>
                <a:lnTo>
                  <a:pt x="9125564" y="0"/>
                </a:lnTo>
                <a:lnTo>
                  <a:pt x="91255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20" y="6920640"/>
            <a:ext cx="7154945" cy="6452460"/>
          </a:xfrm>
          <a:custGeom>
            <a:avLst/>
            <a:gdLst/>
            <a:ahLst/>
            <a:cxnLst/>
            <a:rect r="r" b="b" t="t" l="l"/>
            <a:pathLst>
              <a:path h="6452460" w="7154945">
                <a:moveTo>
                  <a:pt x="0" y="0"/>
                </a:moveTo>
                <a:lnTo>
                  <a:pt x="7154945" y="0"/>
                </a:lnTo>
                <a:lnTo>
                  <a:pt x="7154945" y="6452460"/>
                </a:lnTo>
                <a:lnTo>
                  <a:pt x="0" y="64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65338" y="4674859"/>
            <a:ext cx="8858044" cy="157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2"/>
              </a:lnSpc>
            </a:pPr>
            <a:r>
              <a:rPr lang="en-US" sz="12191">
                <a:solidFill>
                  <a:srgbClr val="6D3A2C"/>
                </a:solidFill>
                <a:latin typeface="Alice Bold"/>
                <a:ea typeface="Alice Bold"/>
                <a:cs typeface="Alice Bold"/>
                <a:sym typeface="Ali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DAHGFfvufMo</dc:identifier>
  <dcterms:modified xsi:type="dcterms:W3CDTF">2011-08-01T06:04:30Z</dcterms:modified>
  <cp:revision>1</cp:revision>
  <dc:title>Cream and Brown Minimalist Watercolor Project Presentation</dc:title>
</cp:coreProperties>
</file>