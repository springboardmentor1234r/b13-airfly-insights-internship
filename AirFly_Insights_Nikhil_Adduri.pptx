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78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7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30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14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97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78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13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398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74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10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467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729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541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741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69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429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6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AirFly</a:t>
            </a:r>
            <a:r>
              <a:rPr dirty="0"/>
              <a:t>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sz="3600" b="1" dirty="0"/>
              <a:t>Data Visualization and Analysis of Airline Operations</a:t>
            </a:r>
          </a:p>
          <a:p>
            <a:endParaRPr dirty="0"/>
          </a:p>
          <a:p>
            <a:r>
              <a:rPr b="1" dirty="0" smtClean="0"/>
              <a:t>Name</a:t>
            </a:r>
            <a:r>
              <a:rPr lang="en-US" b="1" dirty="0" smtClean="0"/>
              <a:t>: </a:t>
            </a:r>
            <a:r>
              <a:rPr lang="en-US" b="1" dirty="0" err="1" smtClean="0"/>
              <a:t>Adduri</a:t>
            </a:r>
            <a:r>
              <a:rPr lang="en-US" b="1" dirty="0" smtClean="0"/>
              <a:t> Nikhil</a:t>
            </a:r>
            <a:r>
              <a:rPr b="1" dirty="0" smtClean="0"/>
              <a:t> </a:t>
            </a:r>
            <a:endParaRPr lang="en-US" b="1" dirty="0" smtClean="0"/>
          </a:p>
          <a:p>
            <a:r>
              <a:rPr b="1" dirty="0" smtClean="0"/>
              <a:t> Mentor</a:t>
            </a:r>
            <a:r>
              <a:rPr lang="en-US" b="1" dirty="0" smtClean="0"/>
              <a:t> : </a:t>
            </a:r>
            <a:r>
              <a:rPr lang="en-US" b="1" dirty="0" err="1" smtClean="0"/>
              <a:t>Priya</a:t>
            </a:r>
            <a:r>
              <a:rPr b="1" dirty="0" smtClean="0"/>
              <a:t> </a:t>
            </a:r>
            <a:endParaRPr lang="en-US" b="1" dirty="0" smtClean="0"/>
          </a:p>
          <a:p>
            <a:r>
              <a:rPr b="1" dirty="0" smtClean="0"/>
              <a:t> Date</a:t>
            </a:r>
            <a:r>
              <a:rPr lang="en-US" b="1" dirty="0" smtClean="0"/>
              <a:t>: 09-04-2026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65970" y="2827175"/>
            <a:ext cx="768842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Objective: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analyze large-scale airline data to identify patterns in flight delays and cancellations.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Goal: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Provide actionable insights that help carriers improve scheduling and help passengers understand travel risks.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Scope: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Temporal analysis (time/season), spatial analysis (routes/hubs), and causal analysis (types of delays).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949945" y="2404897"/>
            <a:ext cx="764354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Source: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Kaggle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Airline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Data Size: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Processed over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3 million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flight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Key Attributes: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 smtClean="0"/>
              <a:t>             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Flight Info: Airline Carrier, Flight Number.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Temporal: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Scheduled Departure/Arrival, Actual Times.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Geographic: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Origin and Destination Airports.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Disruptions: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Delay reasons (Weather, Carrier, NAS, etc.) and Cancellation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80406" y="2348721"/>
            <a:ext cx="7262582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Start: Load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Data Exploration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Data Cleaning &amp; Preprocessing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Feature Engineering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Univariate &amp; Bivariate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Delay Cause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Route &amp; Airport Level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Seasonal &amp; Cancellation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Dashboard / Report Preparation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85192" y="2500071"/>
            <a:ext cx="837888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Data Integrity (The Cleanup)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Result: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Handled missing values in delay-cause columns without losing row 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Impact: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Maintained a complete dataset of 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3.1 Million records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for 100%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2. System Optimization (The Performance)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Result: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Converted data types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Impact: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Reduced memory footprint significantly, enabling high-speed analysis in the Python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3. Feature Engineering (The Expansion)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New Insights: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Time: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Extracted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Month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Day of Week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Departure Hour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Space: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Generated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Flight Routes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(Origin-to-Destination city pairs).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6490" y="2570460"/>
            <a:ext cx="7697755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56418" lvl="1" indent="-285750" algn="just">
              <a:lnSpc>
                <a:spcPts val="3510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Analysis was performed to understand overall flight distribution</a:t>
            </a:r>
          </a:p>
          <a:p>
            <a:pPr marL="556418" lvl="1" indent="-285750" algn="just">
              <a:lnSpc>
                <a:spcPts val="3510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Top airlines were identified based on number of flights operated</a:t>
            </a:r>
          </a:p>
          <a:p>
            <a:pPr marL="556418" lvl="1" indent="-285750" algn="just">
              <a:lnSpc>
                <a:spcPts val="3510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Busiest airports and routes were determined</a:t>
            </a:r>
          </a:p>
          <a:p>
            <a:pPr marL="556418" lvl="1" indent="-285750" algn="just">
              <a:lnSpc>
                <a:spcPts val="3510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Flight patterns across different days and time periods were explored</a:t>
            </a:r>
          </a:p>
          <a:p>
            <a:pPr marL="285750" lvl="0" indent="-285750" algn="just">
              <a:lnSpc>
                <a:spcPts val="2390"/>
              </a:lnSpc>
              <a:buFont typeface="Wingdings" panose="05000000000000000000" pitchFamily="2" charset="2"/>
              <a:buChar char="Ø"/>
            </a:pPr>
            <a:endParaRPr lang="en-US" dirty="0"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3553" y="2513550"/>
            <a:ext cx="740850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42508" lvl="1" indent="-285750">
              <a:lnSpc>
                <a:spcPts val="3329"/>
              </a:lnSpc>
              <a:buFont typeface="Wingdings" panose="05000000000000000000" pitchFamily="2" charset="2"/>
              <a:buChar char="Ø"/>
            </a:pPr>
            <a:r>
              <a:rPr lang="en-US" b="1" dirty="0">
                <a:ea typeface="Canva Sans"/>
                <a:cs typeface="Canva Sans"/>
                <a:sym typeface="Canva Sans"/>
              </a:rPr>
              <a:t>Monthly Trends: </a:t>
            </a:r>
            <a:r>
              <a:rPr lang="en-US" dirty="0">
                <a:ea typeface="Canva Sans"/>
                <a:cs typeface="Canva Sans"/>
                <a:sym typeface="Canva Sans"/>
              </a:rPr>
              <a:t>Line charts showing delay patterns across months, revealing seasonal peaks in winter and summer travel periods.</a:t>
            </a:r>
          </a:p>
          <a:p>
            <a:pPr marL="542508" lvl="1" indent="-285750">
              <a:lnSpc>
                <a:spcPts val="3329"/>
              </a:lnSpc>
              <a:buFont typeface="Wingdings" panose="05000000000000000000" pitchFamily="2" charset="2"/>
              <a:buChar char="Ø"/>
            </a:pPr>
            <a:r>
              <a:rPr lang="en-US" b="1" dirty="0">
                <a:ea typeface="Canva Sans"/>
                <a:cs typeface="Canva Sans"/>
                <a:sym typeface="Canva Sans"/>
              </a:rPr>
              <a:t>Airline Comparison: </a:t>
            </a:r>
            <a:r>
              <a:rPr lang="en-US" dirty="0">
                <a:ea typeface="Canva Sans"/>
                <a:cs typeface="Canva Sans"/>
                <a:sym typeface="Canva Sans"/>
              </a:rPr>
              <a:t>Bar charts comparing average delays by carrier, highlighting performance differences between major airlines.</a:t>
            </a:r>
          </a:p>
          <a:p>
            <a:pPr marL="542508" lvl="1" indent="-285750">
              <a:lnSpc>
                <a:spcPts val="3329"/>
              </a:lnSpc>
              <a:buFont typeface="Wingdings" panose="05000000000000000000" pitchFamily="2" charset="2"/>
              <a:buChar char="Ø"/>
            </a:pPr>
            <a:r>
              <a:rPr lang="en-US" b="1" dirty="0">
                <a:ea typeface="Canva Sans"/>
                <a:cs typeface="Canva Sans"/>
                <a:sym typeface="Canva Sans"/>
              </a:rPr>
              <a:t>Time Patterns: </a:t>
            </a:r>
            <a:r>
              <a:rPr lang="en-US" dirty="0" err="1">
                <a:ea typeface="Canva Sans"/>
                <a:cs typeface="Canva Sans"/>
                <a:sym typeface="Canva Sans"/>
              </a:rPr>
              <a:t>Heatmaps</a:t>
            </a:r>
            <a:r>
              <a:rPr lang="en-US" dirty="0">
                <a:ea typeface="Canva Sans"/>
                <a:cs typeface="Canva Sans"/>
                <a:sym typeface="Canva Sans"/>
              </a:rPr>
              <a:t> displaying delay frequency by hour and day, identifying peak congestion periods.</a:t>
            </a:r>
            <a:endParaRPr lang="en-US" dirty="0"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Delay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3143" y="2301556"/>
            <a:ext cx="7464489" cy="3683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55442" lvl="1" indent="-285750" algn="just">
              <a:lnSpc>
                <a:spcPts val="3497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Different types of delays were analyzed:</a:t>
            </a:r>
          </a:p>
          <a:p>
            <a:pPr marL="1078767" lvl="2" indent="-359589" algn="just">
              <a:lnSpc>
                <a:spcPts val="3497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Carrier delays → caused by airline operations</a:t>
            </a:r>
          </a:p>
          <a:p>
            <a:pPr marL="1078767" lvl="2" indent="-359589" algn="just">
              <a:lnSpc>
                <a:spcPts val="3497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Weather delays → due to external environmental conditions</a:t>
            </a:r>
          </a:p>
          <a:p>
            <a:pPr marL="1078767" lvl="2" indent="-359589" algn="just">
              <a:lnSpc>
                <a:spcPts val="3497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NAS delays → caused by air traffic congestion</a:t>
            </a:r>
          </a:p>
          <a:p>
            <a:pPr marL="555442" lvl="1" indent="-285750" algn="just">
              <a:lnSpc>
                <a:spcPts val="3497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Carrier delays were found to be the most frequent</a:t>
            </a:r>
          </a:p>
          <a:p>
            <a:pPr marL="555442" lvl="1" indent="-285750" algn="just">
              <a:lnSpc>
                <a:spcPts val="3497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Peak delays were observed during busy travel hours</a:t>
            </a:r>
          </a:p>
          <a:p>
            <a:pPr marL="285750" lvl="0" indent="-285750" algn="just">
              <a:lnSpc>
                <a:spcPts val="3497"/>
              </a:lnSpc>
              <a:buFont typeface="Wingdings" panose="05000000000000000000" pitchFamily="2" charset="2"/>
              <a:buChar char="Ø"/>
            </a:pPr>
            <a:endParaRPr lang="en-US" dirty="0"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 &amp; Airport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2515" y="2354203"/>
            <a:ext cx="4833256" cy="3980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47072" lvl="1" indent="-285750" algn="just">
              <a:lnSpc>
                <a:spcPts val="3389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ea typeface="Canva Sans"/>
                <a:cs typeface="Canva Sans"/>
                <a:sym typeface="Canva Sans"/>
              </a:rPr>
              <a:t>Top origin-destination routes were identified based on traffic volume</a:t>
            </a:r>
          </a:p>
          <a:p>
            <a:pPr marL="547072" lvl="1" indent="-285750" algn="just">
              <a:lnSpc>
                <a:spcPts val="3389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ea typeface="Canva Sans"/>
                <a:cs typeface="Canva Sans"/>
                <a:sym typeface="Canva Sans"/>
              </a:rPr>
              <a:t>Some routes showed higher congestion and delay frequency</a:t>
            </a:r>
          </a:p>
          <a:p>
            <a:pPr marL="547072" lvl="1" indent="-285750" algn="just">
              <a:lnSpc>
                <a:spcPts val="3389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ea typeface="Canva Sans"/>
                <a:cs typeface="Canva Sans"/>
                <a:sym typeface="Canva Sans"/>
              </a:rPr>
              <a:t>Airport-level analysis revealed that certain airports consistently experience higher delays</a:t>
            </a:r>
          </a:p>
          <a:p>
            <a:pPr marL="547072" lvl="1" indent="-285750" algn="just">
              <a:lnSpc>
                <a:spcPts val="3389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ea typeface="Canva Sans"/>
                <a:cs typeface="Canva Sans"/>
                <a:sym typeface="Canva Sans"/>
              </a:rPr>
              <a:t>This indicates the impact of traffic density and operational load</a:t>
            </a:r>
          </a:p>
          <a:p>
            <a:pPr marL="285750" lvl="0" indent="-285750" algn="just">
              <a:lnSpc>
                <a:spcPts val="3809"/>
              </a:lnSpc>
              <a:buFont typeface="Wingdings" panose="05000000000000000000" pitchFamily="2" charset="2"/>
              <a:buChar char="Ø"/>
            </a:pPr>
            <a:endParaRPr lang="en-US" sz="1200" dirty="0">
              <a:ea typeface="Canva Sans"/>
              <a:cs typeface="Canva Sans"/>
              <a:sym typeface="Canva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94FFA-DAA0-A825-FD0D-9DF09D0EA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078" y="2354203"/>
            <a:ext cx="3517640" cy="32287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 &amp; Airport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588" y="2306898"/>
            <a:ext cx="4348065" cy="4119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55624" lvl="1" indent="-285750" algn="just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ea typeface="Canva Sans"/>
                <a:cs typeface="Canva Sans"/>
                <a:sym typeface="Canva Sans"/>
              </a:rPr>
              <a:t>Cancellation trends were analyzed across different months</a:t>
            </a:r>
          </a:p>
          <a:p>
            <a:pPr marL="555624" lvl="1" indent="-285750" algn="just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ea typeface="Canva Sans"/>
                <a:cs typeface="Canva Sans"/>
                <a:sym typeface="Canva Sans"/>
              </a:rPr>
              <a:t>Types of cancellations include carrier, weather, NAS, and security</a:t>
            </a:r>
          </a:p>
          <a:p>
            <a:pPr marL="555624" lvl="1" indent="-285750" algn="just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ea typeface="Canva Sans"/>
                <a:cs typeface="Canva Sans"/>
                <a:sym typeface="Canva Sans"/>
              </a:rPr>
              <a:t>Seasonal patterns were observed with higher cancellations during winter months</a:t>
            </a:r>
          </a:p>
          <a:p>
            <a:pPr marL="555624" lvl="1" indent="-285750" algn="just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ea typeface="Canva Sans"/>
                <a:cs typeface="Canva Sans"/>
                <a:sym typeface="Canva Sans"/>
              </a:rPr>
              <a:t>Weather conditions play a significant role in flight cancellations</a:t>
            </a:r>
          </a:p>
          <a:p>
            <a:pPr marL="285750" lvl="0" indent="-285750" algn="just">
              <a:lnSpc>
                <a:spcPts val="3359"/>
              </a:lnSpc>
              <a:buFont typeface="Wingdings" panose="05000000000000000000" pitchFamily="2" charset="2"/>
              <a:buChar char="Ø"/>
            </a:pPr>
            <a:endParaRPr lang="en-US" sz="1400" dirty="0">
              <a:ea typeface="Canva Sans"/>
              <a:cs typeface="Canva Sans"/>
              <a:sym typeface="Canva Sans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BC60F26D-B34B-14F7-4C11-0D4B3C453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920" y="2306898"/>
            <a:ext cx="3699862" cy="3387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082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Cancellation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Types of cancellations</a:t>
            </a:r>
          </a:p>
          <a:p>
            <a:r>
              <a:t>• Monthly trends</a:t>
            </a:r>
          </a:p>
          <a:p>
            <a:r>
              <a:t>• Seasonal impact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Peak delay times</a:t>
            </a:r>
          </a:p>
          <a:p>
            <a:r>
              <a:rPr dirty="0"/>
              <a:t>• Underperforming airlines</a:t>
            </a:r>
          </a:p>
          <a:p>
            <a:r>
              <a:rPr dirty="0"/>
              <a:t>• Seasonal patterns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32" y="2489200"/>
            <a:ext cx="6714821" cy="353060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5889" y="2949064"/>
            <a:ext cx="6652726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55624" lvl="1" indent="-285750" algn="just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Handling large-scale dataset efficiently in </a:t>
            </a:r>
            <a:r>
              <a:rPr lang="en-US" dirty="0" err="1">
                <a:ea typeface="Canva Sans"/>
                <a:cs typeface="Canva Sans"/>
                <a:sym typeface="Canva Sans"/>
              </a:rPr>
              <a:t>Colab</a:t>
            </a:r>
            <a:r>
              <a:rPr lang="en-US" dirty="0">
                <a:ea typeface="Canva Sans"/>
                <a:cs typeface="Canva Sans"/>
                <a:sym typeface="Canva Sans"/>
              </a:rPr>
              <a:t> environment</a:t>
            </a:r>
          </a:p>
          <a:p>
            <a:pPr marL="555624" lvl="1" indent="-285750" algn="just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Managing missing and inconsistent data values</a:t>
            </a:r>
          </a:p>
          <a:p>
            <a:pPr marL="555624" lvl="1" indent="-285750" algn="just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Designing meaningful and interpretable visualizations</a:t>
            </a:r>
          </a:p>
          <a:p>
            <a:pPr marL="555624" lvl="1" indent="-285750" algn="just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Ensuring clarity while presenting complex data</a:t>
            </a:r>
          </a:p>
          <a:p>
            <a:pPr marL="285750" lvl="0" indent="-285750" algn="just">
              <a:lnSpc>
                <a:spcPts val="3499"/>
              </a:lnSpc>
              <a:buFont typeface="Wingdings" panose="05000000000000000000" pitchFamily="2" charset="2"/>
              <a:buChar char="Ø"/>
            </a:pPr>
            <a:endParaRPr lang="en-US" dirty="0"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454" y="2896273"/>
            <a:ext cx="7747773" cy="2272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47072" lvl="1" indent="-285750" algn="just">
              <a:lnSpc>
                <a:spcPts val="3389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Develop machine learning models to predict flight delays</a:t>
            </a:r>
          </a:p>
          <a:p>
            <a:pPr marL="547072" lvl="1" indent="-285750" algn="just">
              <a:lnSpc>
                <a:spcPts val="3389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Implement real-time delay prediction systems</a:t>
            </a:r>
          </a:p>
          <a:p>
            <a:pPr marL="547072" lvl="1" indent="-285750" algn="just">
              <a:lnSpc>
                <a:spcPts val="3389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Build interactive dashboards using tools like Power bi</a:t>
            </a:r>
          </a:p>
          <a:p>
            <a:pPr marL="547072" lvl="1" indent="-285750" algn="just">
              <a:lnSpc>
                <a:spcPts val="3389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Extend analysis with additional real-time data sources</a:t>
            </a:r>
          </a:p>
          <a:p>
            <a:pPr marL="285750" lvl="0" indent="-285750" algn="just">
              <a:lnSpc>
                <a:spcPts val="3389"/>
              </a:lnSpc>
              <a:buFont typeface="Wingdings" panose="05000000000000000000" pitchFamily="2" charset="2"/>
              <a:buChar char="Ø"/>
            </a:pPr>
            <a:endParaRPr lang="en-US" dirty="0"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7037" y="2261448"/>
            <a:ext cx="7529804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91438" lvl="1" indent="-295719" algn="just">
              <a:lnSpc>
                <a:spcPts val="3835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Flight delays are influenced by multiple factors including airline operations and external conditions</a:t>
            </a:r>
          </a:p>
          <a:p>
            <a:pPr marL="591438" lvl="1" indent="-295719" algn="just">
              <a:lnSpc>
                <a:spcPts val="3835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Seasonal trends and congestion play a major role in delays</a:t>
            </a:r>
          </a:p>
          <a:p>
            <a:pPr marL="591438" lvl="1" indent="-295719" algn="just">
              <a:lnSpc>
                <a:spcPts val="3835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Data-driven analysis helps in identifying patterns and improving decision-making</a:t>
            </a:r>
          </a:p>
          <a:p>
            <a:pPr marL="591438" lvl="1" indent="-295719" algn="just">
              <a:lnSpc>
                <a:spcPts val="3835"/>
              </a:lnSpc>
              <a:buFont typeface="Wingdings" panose="05000000000000000000" pitchFamily="2" charset="2"/>
              <a:buChar char="Ø"/>
            </a:pPr>
            <a:r>
              <a:rPr lang="en-US" dirty="0">
                <a:ea typeface="Canva Sans"/>
                <a:cs typeface="Canva Sans"/>
                <a:sym typeface="Canva Sans"/>
              </a:rPr>
              <a:t>The project successfully provides meaningful insights into airline performance</a:t>
            </a:r>
          </a:p>
          <a:p>
            <a:pPr marL="285750" lvl="0" indent="-285750" algn="just">
              <a:lnSpc>
                <a:spcPts val="3415"/>
              </a:lnSpc>
              <a:buFont typeface="Wingdings" panose="05000000000000000000" pitchFamily="2" charset="2"/>
              <a:buChar char="Ø"/>
            </a:pPr>
            <a:endParaRPr lang="en-US" dirty="0"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6610" y="3327400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6000" b="1" dirty="0"/>
              <a:t>Thank You</a:t>
            </a:r>
            <a:endParaRPr sz="6000" b="1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69</TotalTime>
  <Words>619</Words>
  <Application>Microsoft Office PowerPoint</Application>
  <PresentationFormat>On-screen Show (4:3)</PresentationFormat>
  <Paragraphs>107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Canva Sans</vt:lpstr>
      <vt:lpstr>Century Gothic</vt:lpstr>
      <vt:lpstr>Wingdings</vt:lpstr>
      <vt:lpstr>Wingdings 3</vt:lpstr>
      <vt:lpstr>Ion Boardroom</vt:lpstr>
      <vt:lpstr>AirFly Insights</vt:lpstr>
      <vt:lpstr>Project Overview</vt:lpstr>
      <vt:lpstr>Dataset Overview</vt:lpstr>
      <vt:lpstr>Workflow</vt:lpstr>
      <vt:lpstr>Data Preprocessing</vt:lpstr>
      <vt:lpstr>EDA</vt:lpstr>
      <vt:lpstr>Visual Analysis</vt:lpstr>
      <vt:lpstr>Delay Analysis</vt:lpstr>
      <vt:lpstr>Route &amp; Airport Analysis</vt:lpstr>
      <vt:lpstr>Route &amp; Airport Analysis</vt:lpstr>
      <vt:lpstr>Cancellation Analysis</vt:lpstr>
      <vt:lpstr>Key Insights</vt:lpstr>
      <vt:lpstr>Dashboard</vt:lpstr>
      <vt:lpstr>Challenges</vt:lpstr>
      <vt:lpstr>Future Scope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AirFly Insights</dc:title>
  <dc:subject/>
  <dc:creator>ADMIN</dc:creator>
  <cp:keywords/>
  <dc:description>generated using python-pptx</dc:description>
  <cp:lastModifiedBy>ADMIN</cp:lastModifiedBy>
  <cp:revision>8</cp:revision>
  <dcterms:created xsi:type="dcterms:W3CDTF">2013-01-27T09:14:16Z</dcterms:created>
  <dcterms:modified xsi:type="dcterms:W3CDTF">2026-04-09T17:23:16Z</dcterms:modified>
  <cp:category/>
</cp:coreProperties>
</file>